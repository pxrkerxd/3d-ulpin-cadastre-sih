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iso.org/standard/51206.html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gc.org/standards/?utm_source=chatgpt.com" TargetMode="External"/><Relationship Id="rId5" Type="http://schemas.openxmlformats.org/officeDocument/2006/relationships/hyperlink" Target="https://surveyofindia.gov.in/?utm_source=chatgpt.com" TargetMode="External"/><Relationship Id="rId4" Type="http://schemas.openxmlformats.org/officeDocument/2006/relationships/hyperlink" Target="https://ogcapi.ogc.org/tiles/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26011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Title- 3D ULPIN Generation and vertical Properties Mapping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Ctrl</a:t>
            </a:r>
          </a:p>
          <a:p>
            <a:pPr algn="ctr"/>
            <a:r>
              <a:rPr lang="en-US" dirty="0"/>
              <a:t>Alt</a:t>
            </a:r>
          </a:p>
          <a:p>
            <a:pPr algn="ctr"/>
            <a:r>
              <a:rPr lang="en-US" dirty="0"/>
              <a:t>Defeat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188720"/>
            <a:ext cx="502920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0070C0"/>
                </a:solidFill>
                <a:latin typeface="Calibri"/>
              </a:rPr>
              <a:t>THE PROBLEM</a:t>
            </a:r>
          </a:p>
          <a:p>
            <a:pPr algn="l">
              <a:spcAft>
                <a:spcPts val="1400"/>
              </a:spcAft>
            </a:pPr>
            <a:r>
              <a:rPr sz="1250" b="0" i="0" dirty="0">
                <a:solidFill>
                  <a:srgbClr val="1A1A1A"/>
                </a:solidFill>
                <a:latin typeface="Calibri"/>
              </a:rPr>
              <a:t>2D land records can't uniquely identify ownership in high-rises, basements, and underground utilities — causing airspace disputes, encroachments, and fraud.</a:t>
            </a:r>
          </a:p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0070C0"/>
                </a:solidFill>
                <a:latin typeface="Calibri"/>
              </a:rPr>
              <a:t>OUR SOLUTION</a:t>
            </a:r>
          </a:p>
          <a:p>
            <a:pPr marL="177800" indent="-177800" algn="l">
              <a:spcAft>
                <a:spcPts val="800"/>
              </a:spcAft>
              <a:buFont typeface="Arial"/>
              <a:buChar char="•"/>
            </a:pPr>
            <a:r>
              <a:rPr sz="1250" b="0" i="0" dirty="0">
                <a:solidFill>
                  <a:srgbClr val="1A1A1A"/>
                </a:solidFill>
                <a:latin typeface="Calibri"/>
              </a:rPr>
              <a:t>Web-based 3D GIS platform for digital property mapping (ISO 19152 compliant)</a:t>
            </a:r>
          </a:p>
          <a:p>
            <a:pPr marL="177800" indent="-177800" algn="l">
              <a:spcAft>
                <a:spcPts val="800"/>
              </a:spcAft>
              <a:buFont typeface="Arial"/>
              <a:buChar char="•"/>
            </a:pPr>
            <a:r>
              <a:rPr sz="1250" b="0" i="0" dirty="0">
                <a:solidFill>
                  <a:srgbClr val="1A1A1A"/>
                </a:solidFill>
                <a:latin typeface="Calibri"/>
              </a:rPr>
              <a:t>Generates a unique 3D ULPIN for every land parcel &amp; floor unit</a:t>
            </a:r>
          </a:p>
          <a:p>
            <a:pPr marL="177800" indent="-177800" algn="l">
              <a:spcAft>
                <a:spcPts val="800"/>
              </a:spcAft>
              <a:buFont typeface="Arial"/>
              <a:buChar char="•"/>
            </a:pPr>
            <a:r>
              <a:rPr sz="1250" b="0" i="0" dirty="0">
                <a:solidFill>
                  <a:srgbClr val="1A1A1A"/>
                </a:solidFill>
                <a:latin typeface="Calibri"/>
              </a:rPr>
              <a:t>Maps Building → Floors → Flats/Units vertically in true 3D space</a:t>
            </a:r>
          </a:p>
          <a:p>
            <a:pPr marL="177800" indent="-177800" algn="l">
              <a:spcAft>
                <a:spcPts val="800"/>
              </a:spcAft>
              <a:buFont typeface="Arial"/>
              <a:buChar char="•"/>
            </a:pPr>
            <a:r>
              <a:rPr sz="1250" b="0" i="0" dirty="0">
                <a:solidFill>
                  <a:srgbClr val="1A1A1A"/>
                </a:solidFill>
                <a:latin typeface="Calibri"/>
              </a:rPr>
              <a:t>Stores property, owner &amp; spatial data in a centralized spatial database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989320" y="1325880"/>
            <a:ext cx="5669280" cy="960120"/>
          </a:xfrm>
          <a:prstGeom prst="roundRect">
            <a:avLst>
              <a:gd name="adj" fmla="val 12000"/>
            </a:avLst>
          </a:prstGeom>
          <a:solidFill>
            <a:srgbClr val="F4E1E1"/>
          </a:solidFill>
          <a:ln w="15875">
            <a:solidFill>
              <a:srgbClr val="B00020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B00020"/>
                </a:solidFill>
                <a:latin typeface="Calibri"/>
              </a:rPr>
              <a:t>2D Cadastre: flat polygons only</a:t>
            </a:r>
          </a:p>
          <a:p>
            <a:pPr algn="ctr"/>
            <a:r>
              <a:rPr sz="1150" b="0">
                <a:solidFill>
                  <a:srgbClr val="B00020"/>
                </a:solidFill>
                <a:latin typeface="Calibri"/>
              </a:rPr>
              <a:t>can't define vertical ownership</a:t>
            </a:r>
          </a:p>
        </p:txBody>
      </p:sp>
      <p:sp>
        <p:nvSpPr>
          <p:cNvPr id="15364" name="Down Arrow 15363"/>
          <p:cNvSpPr/>
          <p:nvPr/>
        </p:nvSpPr>
        <p:spPr>
          <a:xfrm>
            <a:off x="8622792" y="2313432"/>
            <a:ext cx="402336" cy="448056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Rounded Rectangle 15364"/>
          <p:cNvSpPr/>
          <p:nvPr/>
        </p:nvSpPr>
        <p:spPr>
          <a:xfrm>
            <a:off x="5989320" y="2788920"/>
            <a:ext cx="5669280" cy="105156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9050">
            <a:solidFill>
              <a:srgbClr val="0070C0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3D ULPIN Platform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Volumetric parcel + unique 3D ID + AI collision checks</a:t>
            </a:r>
          </a:p>
        </p:txBody>
      </p:sp>
      <p:sp>
        <p:nvSpPr>
          <p:cNvPr id="15366" name="Down Arrow 15365"/>
          <p:cNvSpPr/>
          <p:nvPr/>
        </p:nvSpPr>
        <p:spPr>
          <a:xfrm>
            <a:off x="8622792" y="3867912"/>
            <a:ext cx="402336" cy="448056"/>
          </a:xfrm>
          <a:prstGeom prst="down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Rounded Rectangle 15366"/>
          <p:cNvSpPr/>
          <p:nvPr/>
        </p:nvSpPr>
        <p:spPr>
          <a:xfrm>
            <a:off x="5989320" y="4343400"/>
            <a:ext cx="5669280" cy="960120"/>
          </a:xfrm>
          <a:prstGeom prst="roundRect">
            <a:avLst>
              <a:gd name="adj" fmla="val 12000"/>
            </a:avLst>
          </a:prstGeom>
          <a:solidFill>
            <a:srgbClr val="E3F2E3"/>
          </a:solidFill>
          <a:ln w="15875">
            <a:solidFill>
              <a:srgbClr val="2E7D32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150" b="0">
                <a:solidFill>
                  <a:srgbClr val="2E7D32"/>
                </a:solidFill>
                <a:latin typeface="Calibri"/>
              </a:rPr>
              <a:t>Legally robust vertical ownership,</a:t>
            </a:r>
          </a:p>
          <a:p>
            <a:pPr algn="ctr"/>
            <a:r>
              <a:rPr sz="1150" b="0">
                <a:solidFill>
                  <a:srgbClr val="2E7D32"/>
                </a:solidFill>
                <a:latin typeface="Calibri"/>
              </a:rPr>
              <a:t>fewer disputes, safer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Ctrl</a:t>
            </a:r>
          </a:p>
          <a:p>
            <a:pPr algn="ctr"/>
            <a:r>
              <a:rPr lang="en-US" dirty="0"/>
              <a:t>Alt</a:t>
            </a:r>
          </a:p>
          <a:p>
            <a:pPr algn="ctr"/>
            <a:r>
              <a:rPr lang="en-US" dirty="0"/>
              <a:t>Defeat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998067" y="123444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E8EAF6"/>
          </a:solidFill>
          <a:ln w="12700">
            <a:solidFill>
              <a:srgbClr val="1E2761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LiDAR Point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Cloud Input</a:t>
            </a:r>
          </a:p>
        </p:txBody>
      </p:sp>
      <p:sp>
        <p:nvSpPr>
          <p:cNvPr id="17411" name="Right Arrow 17410"/>
          <p:cNvSpPr/>
          <p:nvPr/>
        </p:nvSpPr>
        <p:spPr>
          <a:xfrm>
            <a:off x="2781147" y="1563624"/>
            <a:ext cx="32004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3101187" y="123444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D6E4F7"/>
          </a:solidFill>
          <a:ln w="12700">
            <a:solidFill>
              <a:srgbClr val="1E2761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AI Floor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Slicing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4884267" y="1563624"/>
            <a:ext cx="32004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5204307" y="123444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CFECE8"/>
          </a:solidFill>
          <a:ln w="12700">
            <a:solidFill>
              <a:srgbClr val="1E2761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3D ULPIN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Generation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6987387" y="1563624"/>
            <a:ext cx="32004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7307427" y="123444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FCE9D6"/>
          </a:solidFill>
          <a:ln w="12700">
            <a:solidFill>
              <a:srgbClr val="1E2761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Collision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Detection</a:t>
            </a:r>
          </a:p>
        </p:txBody>
      </p:sp>
      <p:sp>
        <p:nvSpPr>
          <p:cNvPr id="17417" name="Right Arrow 17416"/>
          <p:cNvSpPr/>
          <p:nvPr/>
        </p:nvSpPr>
        <p:spPr>
          <a:xfrm>
            <a:off x="9090507" y="1563624"/>
            <a:ext cx="320040" cy="256032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9410547" y="1234440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E1F3DE"/>
          </a:solidFill>
          <a:ln w="12700">
            <a:solidFill>
              <a:srgbClr val="1E2761"/>
            </a:solidFill>
          </a:ln>
          <a:effectLst/>
        </p:spPr>
        <p:txBody>
          <a:bodyPr wrap="square" lIns="50800" tIns="25400" rIns="50800" b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Digital Twin +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Title Certificate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02920" y="23774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1">
                <a:solidFill>
                  <a:srgbClr val="555555"/>
                </a:solidFill>
                <a:latin typeface="Calibri"/>
              </a:rPr>
              <a:t>Methodology: drone/LiDAR data is sliced into floors by AI, each unit gets a 14-digit + vertical-suffix ULPIN, then checked for underground clashes before certificate issuance.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0867" y="28803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70C0"/>
            </a:solidFill>
          </a:ln>
          <a:effectLst/>
        </p:spPr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Frontend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1A1A1A"/>
                </a:solidFill>
                <a:latin typeface="Calibri"/>
              </a:rPr>
              <a:t>Streamlit, Tailwind CSS,
Three.js (WebGL), PyDeck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375507" y="28803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70C0"/>
            </a:solidFill>
          </a:ln>
          <a:effectLst/>
        </p:spPr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Backend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1A1A1A"/>
                </a:solidFill>
                <a:latin typeface="Calibri"/>
              </a:rPr>
              <a:t>Python 3.10+,
Pydantic, Math engine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210147" y="28803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70C0"/>
            </a:solidFill>
          </a:ln>
          <a:effectLst/>
        </p:spPr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Database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1A1A1A"/>
                </a:solidFill>
                <a:latin typeface="Calibri"/>
              </a:rPr>
              <a:t>SQLite3 (Spatial)
+ Pandas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044787" y="28803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70C0"/>
            </a:solidFill>
          </a:ln>
          <a:effectLst/>
        </p:spPr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0070C0"/>
                </a:solidFill>
                <a:latin typeface="Calibri"/>
              </a:rPr>
              <a:t>Security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1A1A1A"/>
                </a:solidFill>
                <a:latin typeface="Calibri"/>
              </a:rPr>
              <a:t>SHA-256 hashing +
QR-verified certificates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4572000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0070C0"/>
                </a:solidFill>
                <a:latin typeface="Calibri"/>
              </a:rPr>
              <a:t>3D ULPIN CODE STRUCTURE  —  14-digit DILRMP base + ISO 19152 vertical suffix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2920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E8EAF6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SS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State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1906524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E8EAF6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DD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District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310128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E8EAF6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SSS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Sub-Dist.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713732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E8EAF6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VVV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Village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17336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E8EAF6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PPPP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Plot ID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520940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D6E4F7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BLD/SUB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Strata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924544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D6E4F7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F04/U01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Floor/Basement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10328148" y="4937760"/>
            <a:ext cx="1330451" cy="685800"/>
          </a:xfrm>
          <a:prstGeom prst="roundRect">
            <a:avLst>
              <a:gd name="adj" fmla="val 15000"/>
            </a:avLst>
          </a:prstGeom>
          <a:solidFill>
            <a:srgbClr val="CFECE8"/>
          </a:solidFill>
          <a:ln w="9525">
            <a:solidFill>
              <a:srgbClr val="1E2761"/>
            </a:solidFill>
          </a:ln>
          <a:effectLst/>
        </p:spPr>
        <p:txBody>
          <a:bodyPr lIns="25400" rIns="25400" rtlCol="0" anchor="ctr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</a:rPr>
              <a:t>K</a:t>
            </a:r>
          </a:p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Checksum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1">
                <a:solidFill>
                  <a:srgbClr val="555555"/>
                </a:solidFill>
                <a:latin typeface="Calibri"/>
              </a:rPr>
              <a:t>Example: 27-21-101-050-0101-BLD-F04-U01-K   (Modulo-36 checksum validates the full code)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Ctrl</a:t>
            </a:r>
          </a:p>
          <a:p>
            <a:pPr algn="ctr"/>
            <a:r>
              <a:rPr lang="en-US" dirty="0"/>
              <a:t>Alt</a:t>
            </a:r>
          </a:p>
          <a:p>
            <a:pPr algn="ctr"/>
            <a:r>
              <a:rPr lang="en-US" dirty="0"/>
              <a:t>Defeat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1887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70C0"/>
                </a:solidFill>
                <a:latin typeface="Calibri"/>
              </a:rPr>
              <a:t>TECHNICAL FEASIBILITY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502920" y="1591056"/>
            <a:ext cx="201168" cy="20116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822960" y="1572768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Uses proven AI, GIS &amp; 3D technologies (LiDAR slicing, WebGL, spatial DB)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502920" y="2048255"/>
            <a:ext cx="201168" cy="20116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22960" y="2029967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Generates a 3D ULPIN and maps vertical properties floor-by-floor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502920" y="2505456"/>
            <a:ext cx="201168" cy="20116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22960" y="2487168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Supports interactive 3D visualization and geometry validation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920" y="3081527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70C0"/>
                </a:solidFill>
                <a:latin typeface="Calibri"/>
              </a:rPr>
              <a:t>CHALLENGES  →  SOLUTIONS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3465575"/>
            <a:ext cx="3246120" cy="621792"/>
          </a:xfrm>
          <a:prstGeom prst="roundRect">
            <a:avLst>
              <a:gd name="adj" fmla="val 15000"/>
            </a:avLst>
          </a:prstGeom>
          <a:solidFill>
            <a:srgbClr val="FCE9E9"/>
          </a:solidFill>
          <a:ln w="9525">
            <a:solidFill>
              <a:srgbClr val="B00020"/>
            </a:solidFill>
          </a:ln>
          <a:effectLst/>
        </p:spPr>
        <p:txBody>
          <a:bodyPr wrap="square" lIns="101600" tIns="25400" rIns="76200" bIns="25400" rtlCol="0" anchor="ctr"/>
          <a:lstStyle/>
          <a:p>
            <a:pPr algn="l"/>
            <a:r>
              <a:rPr sz="1050" b="0">
                <a:solidFill>
                  <a:srgbClr val="B00020"/>
                </a:solidFill>
                <a:latin typeface="Calibri"/>
              </a:rPr>
              <a:t>Data accuracy &amp; availability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3794759" y="3675887"/>
            <a:ext cx="320040" cy="201168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4160520" y="3465575"/>
            <a:ext cx="3246120" cy="621792"/>
          </a:xfrm>
          <a:prstGeom prst="roundRect">
            <a:avLst>
              <a:gd name="adj" fmla="val 15000"/>
            </a:avLst>
          </a:prstGeom>
          <a:solidFill>
            <a:srgbClr val="E3F2E3"/>
          </a:solidFill>
          <a:ln w="9525">
            <a:solidFill>
              <a:srgbClr val="2E7D32"/>
            </a:solidFill>
          </a:ln>
          <a:effectLst/>
        </p:spPr>
        <p:txBody>
          <a:bodyPr wrap="square" lIns="101600" tIns="25400" rIns="76200" bIns="25400" rtlCol="0" anchor="ctr"/>
          <a:lstStyle/>
          <a:p>
            <a:pPr algn="l"/>
            <a:r>
              <a:rPr sz="1050" b="0">
                <a:solidFill>
                  <a:srgbClr val="2E7D32"/>
                </a:solidFill>
                <a:latin typeface="Calibri"/>
              </a:rPr>
              <a:t>AI-based validation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4215383"/>
            <a:ext cx="3246120" cy="621792"/>
          </a:xfrm>
          <a:prstGeom prst="roundRect">
            <a:avLst>
              <a:gd name="adj" fmla="val 15000"/>
            </a:avLst>
          </a:prstGeom>
          <a:solidFill>
            <a:srgbClr val="FCE9E9"/>
          </a:solidFill>
          <a:ln w="9525">
            <a:solidFill>
              <a:srgbClr val="B00020"/>
            </a:solidFill>
          </a:ln>
          <a:effectLst/>
        </p:spPr>
        <p:txBody>
          <a:bodyPr wrap="square" lIns="101600" tIns="25400" rIns="76200" bIns="25400" rtlCol="0" anchor="ctr"/>
          <a:lstStyle/>
          <a:p>
            <a:pPr algn="l"/>
            <a:r>
              <a:rPr sz="1050" b="0">
                <a:solidFill>
                  <a:srgbClr val="B00020"/>
                </a:solidFill>
                <a:latin typeface="Calibri"/>
              </a:rPr>
              <a:t>Large 3D data processing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3794759" y="4425695"/>
            <a:ext cx="320040" cy="201168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4160520" y="4215383"/>
            <a:ext cx="3246120" cy="621792"/>
          </a:xfrm>
          <a:prstGeom prst="roundRect">
            <a:avLst>
              <a:gd name="adj" fmla="val 15000"/>
            </a:avLst>
          </a:prstGeom>
          <a:solidFill>
            <a:srgbClr val="E3F2E3"/>
          </a:solidFill>
          <a:ln w="9525">
            <a:solidFill>
              <a:srgbClr val="2E7D32"/>
            </a:solidFill>
          </a:ln>
          <a:effectLst/>
        </p:spPr>
        <p:txBody>
          <a:bodyPr wrap="square" lIns="101600" tIns="25400" rIns="76200" bIns="25400" rtlCol="0" anchor="ctr"/>
          <a:lstStyle/>
          <a:p>
            <a:pPr algn="l"/>
            <a:r>
              <a:rPr sz="1050" b="0">
                <a:solidFill>
                  <a:srgbClr val="2E7D32"/>
                </a:solidFill>
                <a:latin typeface="Calibri"/>
              </a:rPr>
              <a:t>Scalable GIS database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02920" y="4965192"/>
            <a:ext cx="3246120" cy="621792"/>
          </a:xfrm>
          <a:prstGeom prst="roundRect">
            <a:avLst>
              <a:gd name="adj" fmla="val 15000"/>
            </a:avLst>
          </a:prstGeom>
          <a:solidFill>
            <a:srgbClr val="FCE9E9"/>
          </a:solidFill>
          <a:ln w="9525">
            <a:solidFill>
              <a:srgbClr val="B00020"/>
            </a:solidFill>
          </a:ln>
          <a:effectLst/>
        </p:spPr>
        <p:txBody>
          <a:bodyPr wrap="square" lIns="101600" tIns="25400" rIns="76200" bIns="25400" rtlCol="0" anchor="ctr"/>
          <a:lstStyle/>
          <a:p>
            <a:pPr algn="l"/>
            <a:r>
              <a:rPr sz="1050" b="0">
                <a:solidFill>
                  <a:srgbClr val="B00020"/>
                </a:solidFill>
                <a:latin typeface="Calibri"/>
              </a:rPr>
              <a:t>System integration &amp; security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3794759" y="5175503"/>
            <a:ext cx="320040" cy="201168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4160520" y="4965192"/>
            <a:ext cx="3246120" cy="621792"/>
          </a:xfrm>
          <a:prstGeom prst="roundRect">
            <a:avLst>
              <a:gd name="adj" fmla="val 15000"/>
            </a:avLst>
          </a:prstGeom>
          <a:solidFill>
            <a:srgbClr val="E3F2E3"/>
          </a:solidFill>
          <a:ln w="9525">
            <a:solidFill>
              <a:srgbClr val="2E7D32"/>
            </a:solidFill>
          </a:ln>
          <a:effectLst/>
        </p:spPr>
        <p:txBody>
          <a:bodyPr wrap="square" lIns="101600" tIns="25400" rIns="76200" bIns="25400" rtlCol="0" anchor="ctr"/>
          <a:lstStyle/>
          <a:p>
            <a:pPr algn="l"/>
            <a:r>
              <a:rPr sz="1050" b="0">
                <a:solidFill>
                  <a:srgbClr val="2E7D32"/>
                </a:solidFill>
                <a:latin typeface="Calibri"/>
              </a:rPr>
              <a:t>Secure role-based access</a:t>
            </a:r>
          </a:p>
        </p:txBody>
      </p:sp>
      <p:pic>
        <p:nvPicPr>
          <p:cNvPr id="17427" name="Picture 17426" descr="cert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234440"/>
            <a:ext cx="3611880" cy="2708202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7428" name="TextBox 17427"/>
          <p:cNvSpPr txBox="1"/>
          <p:nvPr/>
        </p:nvSpPr>
        <p:spPr>
          <a:xfrm>
            <a:off x="8001000" y="4015794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Calibri"/>
              </a:rPr>
              <a:t>Example: cryptographically secured 3D ULPIN certificate generated by our working prototype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Source: github.com/pxrkerxd/3d-ulpin-cadastre-sih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5705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Ctrl</a:t>
            </a:r>
          </a:p>
          <a:p>
            <a:pPr algn="ctr"/>
            <a:r>
              <a:rPr lang="en-US" dirty="0"/>
              <a:t>Alt</a:t>
            </a:r>
          </a:p>
          <a:p>
            <a:pPr algn="ctr"/>
            <a:r>
              <a:rPr lang="en-US" dirty="0"/>
              <a:t>Defeat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371600"/>
            <a:ext cx="3108960" cy="44805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txBody>
          <a:bodyPr wrap="square" lIns="127000" rIns="12700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₹26,770 Cr</a:t>
            </a:r>
          </a:p>
          <a:p>
            <a:pPr algn="ctr">
              <a:spcBef>
                <a:spcPts val="600"/>
              </a:spcBef>
            </a:pPr>
            <a:r>
              <a:rPr sz="1250">
                <a:solidFill>
                  <a:srgbClr val="FFFFFF"/>
                </a:solidFill>
                <a:latin typeface="Calibri"/>
              </a:rPr>
              <a:t>in multi-storey property value validated across 25 properties in 8 Indian economic corridors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3977639" y="1380744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480559" y="1325880"/>
            <a:ext cx="7178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Legal clarity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Legally robust, court-defensible vertical ownership for flats, basements &amp; airspace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3977639" y="2459736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480559" y="2404872"/>
            <a:ext cx="7178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Safety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Automated subsurface collision detection prevents encroachment on metro tunnels, utilities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3977639" y="3538727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480559" y="3483863"/>
            <a:ext cx="7178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Urban planning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Accurate 3D data supports FSI/GFA compliance checks and dense-city planning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3977639" y="4617719"/>
            <a:ext cx="320040" cy="32004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480559" y="4562855"/>
            <a:ext cx="717804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Scalability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Built on DILRMP's ULPIN standard — ready for pan-India rollout &amp; GIS integration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Ctrl</a:t>
            </a:r>
          </a:p>
          <a:p>
            <a:pPr algn="ctr"/>
            <a:r>
              <a:rPr lang="en-US" dirty="0"/>
              <a:t>Alt</a:t>
            </a:r>
          </a:p>
          <a:p>
            <a:pPr algn="ctr"/>
            <a:r>
              <a:rPr lang="en-US" dirty="0"/>
              <a:t>Defeat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1928410" y="1529027"/>
            <a:ext cx="8335180" cy="4221324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5875">
            <a:solidFill>
              <a:srgbClr val="0070C0"/>
            </a:solidFill>
          </a:ln>
          <a:effectLst/>
        </p:spPr>
        <p:txBody>
          <a:bodyPr wrap="square" lIns="177800" rIns="177800" rtlCol="0" anchor="ctr"/>
          <a:lstStyle/>
          <a:p>
            <a:pPr algn="ctr"/>
            <a:r>
              <a:rPr sz="1400" b="1" dirty="0">
                <a:solidFill>
                  <a:srgbClr val="1E2761"/>
                </a:solidFill>
                <a:latin typeface="Arial Black" panose="020B0A04020102020204" pitchFamily="34" charset="0"/>
              </a:rPr>
              <a:t>Project Repository</a:t>
            </a:r>
          </a:p>
          <a:p>
            <a:pPr>
              <a:spcBef>
                <a:spcPts val="600"/>
              </a:spcBef>
            </a:pPr>
            <a:r>
              <a:rPr lang="en-IN" sz="1600" b="1" dirty="0"/>
              <a:t>1.Department of Land Resources (</a:t>
            </a:r>
            <a:r>
              <a:rPr lang="en-IN" sz="1600" b="1" dirty="0" err="1"/>
              <a:t>DoLR</a:t>
            </a:r>
            <a:r>
              <a:rPr lang="en-IN" sz="1600" b="1" dirty="0"/>
              <a:t>), Government of India</a:t>
            </a:r>
            <a:br>
              <a:rPr lang="en-IN" sz="1600" dirty="0"/>
            </a:br>
            <a:r>
              <a:rPr lang="en-IN" sz="1600" dirty="0"/>
              <a:t>Digital India Land Records Modernization Programme (DILRMP)</a:t>
            </a:r>
            <a:br>
              <a:rPr lang="en-IN" sz="1600" dirty="0"/>
            </a:br>
            <a:r>
              <a:rPr lang="en-IN" sz="1600" dirty="0" err="1"/>
              <a:t>DoLR</a:t>
            </a:r>
            <a:r>
              <a:rPr lang="en-IN" sz="1600" dirty="0"/>
              <a:t> – DILRMP</a:t>
            </a:r>
          </a:p>
          <a:p>
            <a:pPr>
              <a:spcBef>
                <a:spcPts val="600"/>
              </a:spcBef>
            </a:pPr>
            <a:r>
              <a:rPr lang="en-IN" sz="1600" b="1" dirty="0"/>
              <a:t>2.OGC API – Tiles</a:t>
            </a:r>
            <a:br>
              <a:rPr lang="en-IN" sz="1600" dirty="0"/>
            </a:br>
            <a:r>
              <a:rPr lang="en-IN" sz="1600" dirty="0"/>
              <a:t>Standard for accessing geospatial information through tiled APIs. </a:t>
            </a:r>
            <a:br>
              <a:rPr lang="en-IN" sz="1600" dirty="0"/>
            </a:br>
            <a:r>
              <a:rPr lang="en-IN" sz="1600" dirty="0">
                <a:hlinkClick r:id="rId4"/>
              </a:rPr>
              <a:t>OGC API – Tiles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3. Survey of India (</a:t>
            </a:r>
            <a:r>
              <a:rPr lang="en-IN" sz="1600" b="1" dirty="0" err="1"/>
              <a:t>SoI</a:t>
            </a:r>
            <a:r>
              <a:rPr lang="en-IN" sz="1600" b="1" dirty="0"/>
              <a:t>)</a:t>
            </a:r>
            <a:r>
              <a:rPr lang="en-IN" sz="1600" dirty="0"/>
              <a:t> — CORS, geospatial standards &amp; elevation/vertical datum references</a:t>
            </a:r>
            <a:br>
              <a:rPr lang="en-IN" sz="1600" dirty="0"/>
            </a:br>
            <a:r>
              <a:rPr lang="en-IN" sz="1600" dirty="0">
                <a:hlinkClick r:id="rId5"/>
              </a:rPr>
              <a:t>surveyofindia.gov.in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4.Open Geospatial Consortium (OGC)</a:t>
            </a:r>
            <a:r>
              <a:rPr lang="en-IN" sz="1600" dirty="0"/>
              <a:t> — </a:t>
            </a:r>
            <a:r>
              <a:rPr lang="en-IN" sz="1600" dirty="0" err="1"/>
              <a:t>CityGML</a:t>
            </a:r>
            <a:r>
              <a:rPr lang="en-IN" sz="1600" dirty="0"/>
              <a:t> &amp; </a:t>
            </a:r>
            <a:r>
              <a:rPr lang="en-IN" sz="1600" dirty="0" err="1"/>
              <a:t>LandInfra</a:t>
            </a:r>
            <a:r>
              <a:rPr lang="en-IN" sz="1600" dirty="0"/>
              <a:t> standards for 3D geospatial modelling</a:t>
            </a:r>
            <a:br>
              <a:rPr lang="en-IN" sz="1600" dirty="0"/>
            </a:br>
            <a:r>
              <a:rPr lang="en-IN" sz="1600" dirty="0">
                <a:hlinkClick r:id="rId6"/>
              </a:rPr>
              <a:t>OGC Standards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5.</a:t>
            </a:r>
            <a:r>
              <a:rPr lang="en-IN" sz="1600" dirty="0"/>
              <a:t> </a:t>
            </a:r>
            <a:r>
              <a:rPr lang="en-IN" sz="1600" dirty="0">
                <a:hlinkClick r:id="rId7"/>
              </a:rPr>
              <a:t>ISO 19152 – Land Administration Domain Model</a:t>
            </a:r>
            <a:r>
              <a:rPr lang="en-IN" sz="1600" dirty="0"/>
              <a:t> — for the 3D land/property administration model.</a:t>
            </a:r>
            <a:endParaRPr sz="1600" b="1" u="sng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7558</TotalTime>
  <Words>759</Words>
  <Application>Microsoft Office PowerPoint</Application>
  <PresentationFormat>Widescreen</PresentationFormat>
  <Paragraphs>144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Arial Black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Parker ‎</cp:lastModifiedBy>
  <cp:revision>153</cp:revision>
  <dcterms:created xsi:type="dcterms:W3CDTF">2013-12-12T18:46:50Z</dcterms:created>
  <dcterms:modified xsi:type="dcterms:W3CDTF">2026-09-11T17:59:21Z</dcterms:modified>
  <cp:category/>
</cp:coreProperties>
</file>